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4630400" cy="8229600"/>
  <p:notesSz cx="8229600" cy="14630400"/>
  <p:embeddedFontLst>
    <p:embeddedFont>
      <p:font typeface="Barlow Light" panose="00000400000000000000" pitchFamily="2" charset="0"/>
      <p:regular r:id="rId12"/>
      <p:italic r:id="rId13"/>
    </p:embeddedFont>
    <p:embeddedFont>
      <p:font typeface="Montserrat" panose="000005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41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7" y="952857"/>
            <a:ext cx="4215765" cy="6323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2769989"/>
            <a:ext cx="575321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Artificial Hivemind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44709" y="380761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geometric audit of semantic convergence across GPT, Llama, and Gemini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244709" y="4798814"/>
            <a:ext cx="7627382" cy="16193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44709" y="5112782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217" y="950833"/>
            <a:ext cx="4218623" cy="632793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6403" y="670322"/>
            <a:ext cx="2031563" cy="398621"/>
          </a:xfrm>
          <a:prstGeom prst="roundRect">
            <a:avLst>
              <a:gd name="adj" fmla="val 64204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4276" y="734258"/>
            <a:ext cx="1775817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FRAMING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6403" y="1152882"/>
            <a:ext cx="5815132" cy="701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Innovation Paradox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46403" y="2169200"/>
            <a:ext cx="7651194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Frontier LLMs are trained to be helpful, harmless, and honest — but this alignment creates an </a:t>
            </a: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Echo Chamber Effect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models produce semantically convergent outputs even at high decoding temperatures.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6403" y="3420785"/>
            <a:ext cx="7651194" cy="1964293"/>
          </a:xfrm>
          <a:prstGeom prst="roundRect">
            <a:avLst>
              <a:gd name="adj" fmla="val 5586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43" y="3420785"/>
            <a:ext cx="91440" cy="1964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084" y="3656886"/>
            <a:ext cx="3545443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Measurement Blind Spot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051084" y="4133493"/>
            <a:ext cx="7110412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accuracy benchmarks reward correctness, not diversity. A model can score 95% on MMLU while collapsing into a narrow semantic basin — invisible to conventional evaluation.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46403" y="5594985"/>
            <a:ext cx="7651194" cy="1964293"/>
          </a:xfrm>
          <a:prstGeom prst="roundRect">
            <a:avLst>
              <a:gd name="adj" fmla="val 5586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43" y="5594985"/>
            <a:ext cx="91440" cy="1964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084" y="5831086"/>
            <a:ext cx="2806184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051084" y="6307693"/>
            <a:ext cx="7110412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agentic and ensemble systems, convergent outputs create correlated failure modes that single-model benchmarks cannot detect.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1641872"/>
            <a:ext cx="2238375" cy="422315"/>
          </a:xfrm>
          <a:prstGeom prst="roundRect">
            <a:avLst>
              <a:gd name="adj" fmla="val 61564"/>
            </a:avLst>
          </a:prstGeom>
          <a:noFill/>
          <a:ln w="762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5826" y="1714381"/>
            <a:ext cx="196334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QUESTION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2150745"/>
            <a:ext cx="618136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Research Objective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1083231" y="3432096"/>
            <a:ext cx="127888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repeated sampling in open-ended settings exhibit statistically significant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homogenization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within a single model and across different frontier model families?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309" y="3188375"/>
            <a:ext cx="30480" cy="1180862"/>
          </a:xfrm>
          <a:prstGeom prst="rect">
            <a:avLst/>
          </a:prstGeom>
          <a:solidFill>
            <a:srgbClr val="75BA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8309" y="4612958"/>
            <a:ext cx="4226838" cy="1974652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2504" y="483715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Intra-Model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2504" y="5323284"/>
            <a:ext cx="37784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a single model's output manifold contract as sampling temperature increases?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201722" y="4612958"/>
            <a:ext cx="4226838" cy="1974652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25916" y="483715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Inter-Model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25916" y="5323284"/>
            <a:ext cx="37784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GPT-4.1, Llama-3.3, and Gemini-2.5 occupy overlapping regions of semantic space?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45134" y="4612958"/>
            <a:ext cx="4226957" cy="1974652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69329" y="483715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Operational Risk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69329" y="5323284"/>
            <a:ext cx="377856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does convergence imply for multi-agent enterprise deployments?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394" y="515779"/>
            <a:ext cx="1438275" cy="325160"/>
          </a:xfrm>
          <a:prstGeom prst="roundRect">
            <a:avLst>
              <a:gd name="adj" fmla="val 67465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86051" y="570548"/>
            <a:ext cx="1218962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76394" y="902613"/>
            <a:ext cx="4810720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MLOps Audit Scaffold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676394" y="1735336"/>
            <a:ext cx="1327761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reproducible 5-stage Python pipeline quantifies semantic convergence from raw generation to geometric projection.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40" y="2178368"/>
            <a:ext cx="12852321" cy="482274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65030" y="3406807"/>
            <a:ext cx="663870" cy="6638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73564" y="5820389"/>
            <a:ext cx="1938499" cy="39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Audit</a:t>
            </a:r>
            <a:endParaRPr lang="en-US" sz="2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34645" y="3408052"/>
            <a:ext cx="663869" cy="6638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30522" y="5820389"/>
            <a:ext cx="1938500" cy="39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t-SNE</a:t>
            </a:r>
            <a:endParaRPr lang="en-US" sz="2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4881" y="3408052"/>
            <a:ext cx="663870" cy="6638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759" y="5820389"/>
            <a:ext cx="1938499" cy="39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Similarity</a:t>
            </a:r>
            <a:endParaRPr lang="en-US" sz="2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5117" y="3408052"/>
            <a:ext cx="663870" cy="66387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70996" y="5820389"/>
            <a:ext cx="1938500" cy="39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Embedding</a:t>
            </a:r>
            <a:endParaRPr lang="en-US" sz="24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32076" y="3408052"/>
            <a:ext cx="663870" cy="66387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488122" y="5820389"/>
            <a:ext cx="1938500" cy="39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Generation</a:t>
            </a:r>
            <a:endParaRPr lang="en-US" sz="2450" dirty="0"/>
          </a:p>
        </p:txBody>
      </p:sp>
      <p:sp>
        <p:nvSpPr>
          <p:cNvPr id="17" name="Text 9"/>
          <p:cNvSpPr/>
          <p:nvPr/>
        </p:nvSpPr>
        <p:spPr>
          <a:xfrm>
            <a:off x="676394" y="7174587"/>
            <a:ext cx="13277612" cy="53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all-MiniLM-L6-v2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sentence transformer produces 384-dimensional embeddings, enabling cosine-similarity comparisons at scale. t-SNE reduces this to a 2D manifold for visual audit of </a:t>
            </a:r>
            <a:r>
              <a:rPr lang="en-US" sz="1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Latent Attractors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cluster boundaries.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394" y="521613"/>
            <a:ext cx="2024301" cy="340400"/>
          </a:xfrm>
          <a:prstGeom prst="roundRect">
            <a:avLst>
              <a:gd name="adj" fmla="val 64445"/>
            </a:avLst>
          </a:prstGeom>
          <a:noFill/>
          <a:ln w="762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3671" y="584002"/>
            <a:ext cx="178974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EXPERIMENTAL DESIGN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76394" y="923687"/>
            <a:ext cx="10714553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Controlled Inference Across Three Frontier Models</a:t>
            </a:r>
            <a:endParaRPr lang="en-US" sz="3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94" y="1929884"/>
            <a:ext cx="4357211" cy="43572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7233" y="3619262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Euri AI Gateway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87233" y="4074081"/>
            <a:ext cx="8474273" cy="53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unified inference layer standardizes decoding parameters across all three model families, eliminating API-level variance as a confounding factor.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6394" y="6634043"/>
            <a:ext cx="4323040" cy="1073944"/>
          </a:xfrm>
          <a:prstGeom prst="roundRect">
            <a:avLst>
              <a:gd name="adj" fmla="val 2553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82015" y="6839664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GPT-4.1-mini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82015" y="7232809"/>
            <a:ext cx="3911798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OpenAI · T=1.0 · max_tokens=150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53620" y="6634043"/>
            <a:ext cx="4323040" cy="1073944"/>
          </a:xfrm>
          <a:prstGeom prst="roundRect">
            <a:avLst>
              <a:gd name="adj" fmla="val 2553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59241" y="6839664"/>
            <a:ext cx="2562106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Llama-3.3-70b-versatile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359241" y="7232809"/>
            <a:ext cx="3911798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· T=1.0 · max_tokens=150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630847" y="6634043"/>
            <a:ext cx="4323040" cy="1073944"/>
          </a:xfrm>
          <a:prstGeom prst="roundRect">
            <a:avLst>
              <a:gd name="adj" fmla="val 2553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836468" y="6839664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Gemini-2.5-Flash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836468" y="7232809"/>
            <a:ext cx="3911798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· T=1.0 · max_tokens=150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982385"/>
            <a:ext cx="2389823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8206" y="1047274"/>
            <a:ext cx="2130028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 · INTRA-MODEL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1476018"/>
            <a:ext cx="886860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Token Entropy ≠ Semantic Diversity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58309" y="3131582"/>
            <a:ext cx="416099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Manifold Contraction Finding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3704392"/>
            <a:ext cx="833889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Increasing temperature to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T=1.0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failed to expand the semantic manifold. Red (T=0.3) and blue (T=1.0) samples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cohabit identical clusters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t-SNE space — token-level entropy does not translate to semantic divergence.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58309" y="4988243"/>
            <a:ext cx="8338899" cy="1613892"/>
          </a:xfrm>
          <a:prstGeom prst="roundRect">
            <a:avLst>
              <a:gd name="adj" fmla="val 20137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84" y="5320784"/>
            <a:ext cx="270748" cy="2165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2207" y="5258872"/>
            <a:ext cx="741842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Centroid Similarity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between low-T and high-T samples exceeded 0.91 across all three models, confirming </a:t>
            </a: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Manifold Contraction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a structural property, not a decoding artifact.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3466" y="2757368"/>
            <a:ext cx="4246126" cy="42461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1566743"/>
            <a:ext cx="2419945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8206" y="1631633"/>
            <a:ext cx="216015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 · INTER-MODEL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2060377"/>
            <a:ext cx="1072360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"Mirroring" Reveal — Smoking Gun Data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58309" y="3206234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78.63%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428274" y="41918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Semantic Agreement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8309" y="4677966"/>
            <a:ext cx="4190762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GPT-4.1-mini 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↔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Llama-3.3-70b centroid similarity on open-ended creative prompts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219819" y="3206234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0.91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889784" y="41918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Centroid Correlation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9819" y="4677966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Cross-model cosine similarity implies functional interchangeability in generative tasks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81329" y="3206234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10351294" y="41918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Models Audited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81329" y="4677966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two independent training corpora and architectures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309" y="5969437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GPT-4.1 and Llama-3.3 are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functionally interchangeable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creative and reasoning tasks — a ~79% Hivemind bias emerges despite different architectures, training data, and RLHF pipelines. This is the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Echo Chamber Effect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quantified.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" y="934522"/>
            <a:ext cx="4240292" cy="63604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38029" y="536734"/>
            <a:ext cx="1717477" cy="333137"/>
          </a:xfrm>
          <a:prstGeom prst="roundRect">
            <a:avLst>
              <a:gd name="adj" fmla="val 670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249710" y="592574"/>
            <a:ext cx="14941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 RISK CONTEXT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138029" y="933807"/>
            <a:ext cx="7840742" cy="1224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Agentic Leap: Groupthink at Scale</a:t>
            </a:r>
            <a:endParaRPr lang="en-US" sz="3850" dirty="0"/>
          </a:p>
        </p:txBody>
      </p:sp>
      <p:sp>
        <p:nvSpPr>
          <p:cNvPr id="7" name="Text 4"/>
          <p:cNvSpPr/>
          <p:nvPr/>
        </p:nvSpPr>
        <p:spPr>
          <a:xfrm>
            <a:off x="6138029" y="2398395"/>
            <a:ext cx="7840742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autonomous agents share a </a:t>
            </a: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~79% Hivemind bias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the system becomes a </a:t>
            </a: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point of semantic failure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not a distributed intelligence.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38029" y="3132177"/>
            <a:ext cx="3840361" cy="2338864"/>
          </a:xfrm>
          <a:prstGeom prst="roundRect">
            <a:avLst>
              <a:gd name="adj" fmla="val 119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744" y="3325892"/>
            <a:ext cx="558522" cy="558522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5334" y="3479363"/>
            <a:ext cx="251341" cy="2513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31744" y="4044315"/>
            <a:ext cx="261889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Correlated Hallucination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6331744" y="4446508"/>
            <a:ext cx="3452932" cy="83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Convergent models reinforce the same factual errors across parallel agent branches.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10138291" y="3132177"/>
            <a:ext cx="3840480" cy="2338864"/>
          </a:xfrm>
          <a:prstGeom prst="roundRect">
            <a:avLst>
              <a:gd name="adj" fmla="val 119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006" y="3325892"/>
            <a:ext cx="558522" cy="558522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5596" y="3479363"/>
            <a:ext cx="251341" cy="2513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332006" y="4044315"/>
            <a:ext cx="245411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Cascade Amplification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10332006" y="4446508"/>
            <a:ext cx="3453051" cy="83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Downstream agents inherit upstream bias, compounding errors exponentially through the workflow.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6138029" y="5630942"/>
            <a:ext cx="7840742" cy="2061924"/>
          </a:xfrm>
          <a:prstGeom prst="roundRect">
            <a:avLst>
              <a:gd name="adj" fmla="val 1354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1744" y="5824657"/>
            <a:ext cx="558522" cy="558522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85334" y="5978128"/>
            <a:ext cx="251341" cy="251341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331744" y="6543080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Adversarial Blind Spot</a:t>
            </a:r>
            <a:endParaRPr lang="en-US" sz="1900" dirty="0"/>
          </a:p>
        </p:txBody>
      </p:sp>
      <p:sp>
        <p:nvSpPr>
          <p:cNvPr id="22" name="Text 13"/>
          <p:cNvSpPr/>
          <p:nvPr/>
        </p:nvSpPr>
        <p:spPr>
          <a:xfrm>
            <a:off x="6331744" y="6945273"/>
            <a:ext cx="7453312" cy="553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single adversarial prompt can simultaneously compromise all agents sharing the same semantic basin.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2258" y="503039"/>
            <a:ext cx="1809393" cy="309682"/>
          </a:xfrm>
          <a:prstGeom prst="roundRect">
            <a:avLst>
              <a:gd name="adj" fmla="val 68214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27867" y="555784"/>
            <a:ext cx="159817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2258" y="869871"/>
            <a:ext cx="9536787" cy="57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Navigating the Hivemind: A Strategic Playbook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22258" y="1806297"/>
            <a:ext cx="5306139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We Can Do Today (Immediate Tactics)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922258" y="2314575"/>
            <a:ext cx="352068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58" y="2590800"/>
            <a:ext cx="6178272" cy="228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2258" y="2724507"/>
            <a:ext cx="2940725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Constraint-Based Prompting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22258" y="3156942"/>
            <a:ext cx="61782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Moving beyond 'professional' or 'creative' tags to use negative constraints that force the AI out of its standard 'safe' response basins.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22258" y="3942398"/>
            <a:ext cx="352068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3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58" y="4183499"/>
            <a:ext cx="6178272" cy="228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2258" y="4352330"/>
            <a:ext cx="2321600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Strategic Model Mixing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22258" y="4784765"/>
            <a:ext cx="61782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Intentionally pairing divergent models (like Gemini) with GPT-family models to ensure our ensembles aren't just echo chambers.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922258" y="5570220"/>
            <a:ext cx="352068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3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58" y="5776198"/>
            <a:ext cx="6178272" cy="228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2258" y="5980152"/>
            <a:ext cx="231624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Adversarial Personas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922258" y="6412587"/>
            <a:ext cx="6178272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Setting up multi-agent workflows where agents are assigned conflicting ideological or technical personas to maximize exploratory breadth.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537490" y="1806297"/>
            <a:ext cx="4616410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Path Forward (The Industry Shift)</a:t>
            </a:r>
            <a:endParaRPr lang="en-US" sz="2150" dirty="0"/>
          </a:p>
        </p:txBody>
      </p:sp>
      <p:sp>
        <p:nvSpPr>
          <p:cNvPr id="19" name="Text 14"/>
          <p:cNvSpPr/>
          <p:nvPr/>
        </p:nvSpPr>
        <p:spPr>
          <a:xfrm>
            <a:off x="7537490" y="2314575"/>
            <a:ext cx="352068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3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490" y="2590800"/>
            <a:ext cx="6178272" cy="228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37490" y="2724507"/>
            <a:ext cx="3573304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From RLHF to Pluralistic Alignment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537490" y="3156942"/>
            <a:ext cx="6178272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Discussing the need for reward models that prioritize covering the full 'Overton Window' of valid responses rather than just the 'average' consensus answer.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537490" y="4197668"/>
            <a:ext cx="352068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3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490" y="4456390"/>
            <a:ext cx="6178272" cy="228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537490" y="4607600"/>
            <a:ext cx="4728686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Small Language Models (SLMs) &amp; Domain Silos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7537490" y="5040035"/>
            <a:ext cx="6178272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Utilizing smaller, proprietary models trained on high-quality specialized data to escape the generic homogenization of the internet-scale LLMs.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7537490" y="6080760"/>
            <a:ext cx="352068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3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490" y="6321862"/>
            <a:ext cx="6178272" cy="228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537490" y="6490692"/>
            <a:ext cx="231624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Closing Note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7537490" y="6923127"/>
            <a:ext cx="6178272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edge isn't just using AI—it's knowing when the AI is being repetitive so we can push for genuine innovation.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</Words>
  <Application>Microsoft Office PowerPoint</Application>
  <PresentationFormat>Custom</PresentationFormat>
  <Paragraphs>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Barlow Bold</vt:lpstr>
      <vt:lpstr>Barlow Light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Tanishq Mann</cp:lastModifiedBy>
  <cp:revision>2</cp:revision>
  <dcterms:created xsi:type="dcterms:W3CDTF">2026-04-20T09:07:41Z</dcterms:created>
  <dcterms:modified xsi:type="dcterms:W3CDTF">2026-04-20T13:52:56Z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52e25d9-fa69-4797-8d62-d7c89697a54a_Enabled">
    <vt:lpwstr>true</vt:lpwstr>
  </property>
  <property fmtid="{D5CDD505-2E9C-101B-9397-08002B2CF9AE}" pid="3" name="MSIP_Label_e52e25d9-fa69-4797-8d62-d7c89697a54a_SetDate">
    <vt:lpwstr>2026-04-20T13:52:49Z</vt:lpwstr>
  </property>
  <property fmtid="{D5CDD505-2E9C-101B-9397-08002B2CF9AE}" pid="4" name="MSIP_Label_e52e25d9-fa69-4797-8d62-d7c89697a54a_Method">
    <vt:lpwstr>Standard</vt:lpwstr>
  </property>
  <property fmtid="{D5CDD505-2E9C-101B-9397-08002B2CF9AE}" pid="5" name="MSIP_Label_e52e25d9-fa69-4797-8d62-d7c89697a54a_Name">
    <vt:lpwstr>General - Internal</vt:lpwstr>
  </property>
  <property fmtid="{D5CDD505-2E9C-101B-9397-08002B2CF9AE}" pid="6" name="MSIP_Label_e52e25d9-fa69-4797-8d62-d7c89697a54a_SiteId">
    <vt:lpwstr>e274a129-849d-4351-ab82-7bd413959a93</vt:lpwstr>
  </property>
  <property fmtid="{D5CDD505-2E9C-101B-9397-08002B2CF9AE}" pid="7" name="MSIP_Label_e52e25d9-fa69-4797-8d62-d7c89697a54a_ActionId">
    <vt:lpwstr>4626e7b4-4fb0-4e73-8e6c-fced5e5c0392</vt:lpwstr>
  </property>
  <property fmtid="{D5CDD505-2E9C-101B-9397-08002B2CF9AE}" pid="8" name="MSIP_Label_e52e25d9-fa69-4797-8d62-d7c89697a54a_ContentBits">
    <vt:lpwstr>0</vt:lpwstr>
  </property>
  <property fmtid="{D5CDD505-2E9C-101B-9397-08002B2CF9AE}" pid="9" name="MSIP_Label_e52e25d9-fa69-4797-8d62-d7c89697a54a_Tag">
    <vt:lpwstr>10, 3, 0, 1</vt:lpwstr>
  </property>
</Properties>
</file>